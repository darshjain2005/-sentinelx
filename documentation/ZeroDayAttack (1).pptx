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75" r:id="rId2"/>
    <p:sldId id="277" r:id="rId3"/>
    <p:sldId id="278" r:id="rId4"/>
    <p:sldId id="279" r:id="rId5"/>
    <p:sldId id="280" r:id="rId6"/>
    <p:sldId id="281" r:id="rId7"/>
    <p:sldId id="274" r:id="rId8"/>
    <p:sldId id="282" r:id="rId9"/>
    <p:sldId id="283" r:id="rId10"/>
    <p:sldId id="263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1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FDB15D8-B491-9379-BE38-3D27800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91A4675-653F-B31D-2F4A-A04FC19B5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59CE779-A5BD-D145-71A2-DE2530743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29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A446F6E-76C7-0CB4-B550-7BCD1E4E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4F9C383-C76A-EA86-5F65-8AC4D2A5E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8739C82-4DB2-CFED-2AFF-3F33DED66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74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93605F2-07D8-3BAC-E710-4B7D4C8E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67C8BCF-63C1-258F-C682-5CA1B27EE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6AF7F79-DB42-193B-E8B7-04FA97AAB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169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B121CF6-4523-3D43-8B6D-67083253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170DBB9-19CA-66DB-564A-F5F5EC7A7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90A5450-E84F-71EC-123B-B9EDDCF3D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20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F0FCDCB-C3C8-1BF7-82A4-AD964B8C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515B596-051B-B42A-B2C3-4AF624620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7435AE6-7F0C-E9A0-EFF9-6A32CC406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29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154736" y="1516242"/>
            <a:ext cx="2834518" cy="615523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sz="2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   Graph</a:t>
            </a:r>
            <a:endParaRPr sz="2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225" y="0"/>
            <a:ext cx="5001545" cy="9213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D954C3-C6A2-FC6A-3CFD-2BA1822E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299004"/>
              </p:ext>
            </p:extLst>
          </p:nvPr>
        </p:nvGraphicFramePr>
        <p:xfrm>
          <a:off x="1523996" y="2699022"/>
          <a:ext cx="6096000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691098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1547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0061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Student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Moodle 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Year – Div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2680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Riya Koli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23102165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 –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0032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Darsh Jain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23102037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 –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519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Amitesh Jain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23102165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 –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009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Vaishnavi Khule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23102017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 –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05363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1AC9C1-5F23-C9EA-5357-6C0CE7BE54DA}"/>
              </a:ext>
            </a:extLst>
          </p:cNvPr>
          <p:cNvSpPr txBox="1"/>
          <p:nvPr/>
        </p:nvSpPr>
        <p:spPr>
          <a:xfrm>
            <a:off x="2202596" y="1141655"/>
            <a:ext cx="473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cs typeface="Biome" panose="020B0503030204020804" pitchFamily="34" charset="0"/>
              </a:rPr>
              <a:t>DEPARTMENT OF COMPUTER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0D285-228A-BFF6-87E3-C8DFADD13EF5}"/>
              </a:ext>
            </a:extLst>
          </p:cNvPr>
          <p:cNvSpPr txBox="1"/>
          <p:nvPr/>
        </p:nvSpPr>
        <p:spPr>
          <a:xfrm>
            <a:off x="2818149" y="4773550"/>
            <a:ext cx="3507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of – Prof. Aarthi Kamble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367FB-646E-D999-2184-9B37FAEBDD5C}"/>
              </a:ext>
            </a:extLst>
          </p:cNvPr>
          <p:cNvSpPr txBox="1"/>
          <p:nvPr/>
        </p:nvSpPr>
        <p:spPr>
          <a:xfrm>
            <a:off x="1131625" y="2170917"/>
            <a:ext cx="6710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Abadi" panose="020B0604020104020204" pitchFamily="34" charset="0"/>
              </a:rPr>
              <a:t>Evaluating </a:t>
            </a:r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GraphSAGE</a:t>
            </a:r>
            <a:r>
              <a:rPr lang="en-IN" b="1" dirty="0">
                <a:latin typeface="Abadi" panose="020B0604020104020204" pitchFamily="34" charset="0"/>
              </a:rPr>
              <a:t> for Zero-Day Attack Detection Against ML &amp; DL Baselines</a:t>
            </a:r>
            <a:endParaRPr lang="en-US" b="1" dirty="0">
              <a:latin typeface="Abadi" panose="020B0604020104020204" pitchFamily="34" charset="0"/>
            </a:endParaRP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3700F575-D191-684A-8890-0E1E324F746B}"/>
              </a:ext>
            </a:extLst>
          </p:cNvPr>
          <p:cNvSpPr txBox="1"/>
          <p:nvPr/>
        </p:nvSpPr>
        <p:spPr>
          <a:xfrm>
            <a:off x="4161234" y="1533190"/>
            <a:ext cx="325636" cy="615523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0</a:t>
            </a:r>
            <a:endParaRPr sz="2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BBA4905-56DD-3AEB-EA6D-2E572AAD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F882BA9-DB13-5FB3-6698-A51482E49650}"/>
              </a:ext>
            </a:extLst>
          </p:cNvPr>
          <p:cNvSpPr/>
          <p:nvPr/>
        </p:nvSpPr>
        <p:spPr>
          <a:xfrm>
            <a:off x="0" y="185738"/>
            <a:ext cx="3943350" cy="464344"/>
          </a:xfrm>
          <a:prstGeom prst="homePlate">
            <a:avLst>
              <a:gd name="adj" fmla="val 59231"/>
            </a:avLst>
          </a:prstGeom>
          <a:solidFill>
            <a:schemeClr val="accent5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iome" panose="020B0503030204020804" pitchFamily="34" charset="0"/>
                <a:cs typeface="Biome" panose="020B0503030204020804" pitchFamily="34" charset="0"/>
              </a:rPr>
              <a:t>Problem Statement</a:t>
            </a:r>
            <a:endParaRPr lang="en-IN" sz="2100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Google Shape;63;p14">
            <a:extLst>
              <a:ext uri="{FF2B5EF4-FFF2-40B4-BE49-F238E27FC236}">
                <a16:creationId xmlns:a16="http://schemas.microsoft.com/office/drawing/2014/main" id="{E92004A5-3274-F4D9-3415-5287A10A1682}"/>
              </a:ext>
            </a:extLst>
          </p:cNvPr>
          <p:cNvSpPr txBox="1">
            <a:spLocks/>
          </p:cNvSpPr>
          <p:nvPr/>
        </p:nvSpPr>
        <p:spPr>
          <a:xfrm>
            <a:off x="232822" y="417909"/>
            <a:ext cx="6484922" cy="198526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algn="just"/>
            <a:endParaRPr lang="en-US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6F891C-D21F-A656-D8DD-A34480600614}"/>
              </a:ext>
            </a:extLst>
          </p:cNvPr>
          <p:cNvGrpSpPr/>
          <p:nvPr/>
        </p:nvGrpSpPr>
        <p:grpSpPr>
          <a:xfrm>
            <a:off x="4756299" y="1143589"/>
            <a:ext cx="4387701" cy="1553077"/>
            <a:chOff x="4756299" y="1427124"/>
            <a:chExt cx="4387701" cy="15530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45BADD-207A-3C58-E465-BFCAE2B204DB}"/>
                </a:ext>
              </a:extLst>
            </p:cNvPr>
            <p:cNvSpPr txBox="1"/>
            <p:nvPr/>
          </p:nvSpPr>
          <p:spPr>
            <a:xfrm>
              <a:off x="5403273" y="1779872"/>
              <a:ext cx="374072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1200" dirty="0"/>
                <a:t>A major limitation in current security research is the reliance on conventional, randomized train-test data splits. This methodology fails to simulate real-world cyber environments, where newly deployed threats are completely novel rather than variations of existing training samples.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B7CF7F-50DB-9FA4-66D3-0087EB9E1DA3}"/>
                </a:ext>
              </a:extLst>
            </p:cNvPr>
            <p:cNvSpPr/>
            <p:nvPr/>
          </p:nvSpPr>
          <p:spPr>
            <a:xfrm>
              <a:off x="4756299" y="1427124"/>
              <a:ext cx="4387701" cy="25630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b="1" dirty="0"/>
                <a:t>The Current Gap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DFFC60-9A15-D6D0-A8B7-74B7D23584F0}"/>
              </a:ext>
            </a:extLst>
          </p:cNvPr>
          <p:cNvGrpSpPr/>
          <p:nvPr/>
        </p:nvGrpSpPr>
        <p:grpSpPr>
          <a:xfrm>
            <a:off x="0" y="1143589"/>
            <a:ext cx="4387702" cy="1553077"/>
            <a:chOff x="0" y="1427124"/>
            <a:chExt cx="4387702" cy="15530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7B0C45-BEF5-A50D-9723-FB3443789F3E}"/>
                </a:ext>
              </a:extLst>
            </p:cNvPr>
            <p:cNvSpPr txBox="1"/>
            <p:nvPr/>
          </p:nvSpPr>
          <p:spPr>
            <a:xfrm>
              <a:off x="2" y="1779872"/>
              <a:ext cx="374072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1200" dirty="0"/>
                <a:t>Traditional Intrusion Detection Systems (IDS) and standard machine learning models perform reliably when detecting known cyber threats. However, they consistently struggle to identify zero-day attacks unseen vulnerabilities that were never included in the original training data.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058E32-B085-19AC-86AB-D4E8A4D4C47D}"/>
                </a:ext>
              </a:extLst>
            </p:cNvPr>
            <p:cNvSpPr/>
            <p:nvPr/>
          </p:nvSpPr>
          <p:spPr>
            <a:xfrm>
              <a:off x="0" y="1427124"/>
              <a:ext cx="4387702" cy="25630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/>
                <a:t>The Core Problem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D56355-32FC-4035-0B0C-2F15B38E24D1}"/>
              </a:ext>
            </a:extLst>
          </p:cNvPr>
          <p:cNvGrpSpPr/>
          <p:nvPr/>
        </p:nvGrpSpPr>
        <p:grpSpPr>
          <a:xfrm>
            <a:off x="0" y="3408038"/>
            <a:ext cx="9144000" cy="1183745"/>
            <a:chOff x="-2701636" y="1427124"/>
            <a:chExt cx="9144000" cy="118374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DB1A2B-2A29-C740-7F1E-D997F0EFBD6B}"/>
                </a:ext>
              </a:extLst>
            </p:cNvPr>
            <p:cNvSpPr txBox="1"/>
            <p:nvPr/>
          </p:nvSpPr>
          <p:spPr>
            <a:xfrm>
              <a:off x="-2701636" y="1779872"/>
              <a:ext cx="914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1200" dirty="0"/>
                <a:t>To address this limitation, this project introduces a novel, realistic zero-day evaluation framework specifically designed to isolate unseen attack classes during testing, simulating true real-world cyber threats. To rigorously validate its efficacy, GraphSAGE's detection accuracy, generalizability, and false-alarm rates are directly benchmarked against established Machine Learning models  Random Forest, </a:t>
              </a:r>
              <a:r>
                <a:rPr lang="en-IN" sz="1200" dirty="0" err="1"/>
                <a:t>XGBoost</a:t>
              </a:r>
              <a:r>
                <a:rPr lang="en-IN" sz="1200" dirty="0"/>
                <a:t> and Deep Learning architectures CNN, LSTM.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280C5A-9BAA-65F9-4AC0-D61FAD42EE50}"/>
                </a:ext>
              </a:extLst>
            </p:cNvPr>
            <p:cNvSpPr/>
            <p:nvPr/>
          </p:nvSpPr>
          <p:spPr>
            <a:xfrm>
              <a:off x="-2701636" y="1427124"/>
              <a:ext cx="9143999" cy="25630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The Proposed Idea</a:t>
              </a:r>
            </a:p>
          </p:txBody>
        </p:sp>
      </p:grpSp>
      <p:sp>
        <p:nvSpPr>
          <p:cNvPr id="19" name="Google Shape;55;p13">
            <a:extLst>
              <a:ext uri="{FF2B5EF4-FFF2-40B4-BE49-F238E27FC236}">
                <a16:creationId xmlns:a16="http://schemas.microsoft.com/office/drawing/2014/main" id="{F8C1149B-6933-E1A2-1932-5DAFE5A6165E}"/>
              </a:ext>
            </a:extLst>
          </p:cNvPr>
          <p:cNvSpPr txBox="1"/>
          <p:nvPr/>
        </p:nvSpPr>
        <p:spPr>
          <a:xfrm>
            <a:off x="4409182" y="963981"/>
            <a:ext cx="325636" cy="615523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0</a:t>
            </a:r>
            <a:endParaRPr sz="2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sp>
        <p:nvSpPr>
          <p:cNvPr id="21" name="Google Shape;55;p13">
            <a:extLst>
              <a:ext uri="{FF2B5EF4-FFF2-40B4-BE49-F238E27FC236}">
                <a16:creationId xmlns:a16="http://schemas.microsoft.com/office/drawing/2014/main" id="{C49846F1-736B-1CBF-DE8E-C9EF96AA65FF}"/>
              </a:ext>
            </a:extLst>
          </p:cNvPr>
          <p:cNvSpPr txBox="1"/>
          <p:nvPr/>
        </p:nvSpPr>
        <p:spPr>
          <a:xfrm>
            <a:off x="7849275" y="4743421"/>
            <a:ext cx="1294724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Zero Graph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021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CF5347F-6689-0765-E427-C39810CB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823D74E-B443-1BC7-2EC9-10D73085F412}"/>
              </a:ext>
            </a:extLst>
          </p:cNvPr>
          <p:cNvSpPr/>
          <p:nvPr/>
        </p:nvSpPr>
        <p:spPr>
          <a:xfrm>
            <a:off x="0" y="185738"/>
            <a:ext cx="3943350" cy="464344"/>
          </a:xfrm>
          <a:prstGeom prst="homePlate">
            <a:avLst>
              <a:gd name="adj" fmla="val 59231"/>
            </a:avLst>
          </a:prstGeom>
          <a:solidFill>
            <a:schemeClr val="accent5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iome" panose="020B0503030204020804" pitchFamily="34" charset="0"/>
                <a:cs typeface="Biome" panose="020B0503030204020804" pitchFamily="34" charset="0"/>
              </a:rPr>
              <a:t> bjectives</a:t>
            </a:r>
            <a:endParaRPr lang="en-IN" sz="2100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Google Shape;63;p14">
            <a:extLst>
              <a:ext uri="{FF2B5EF4-FFF2-40B4-BE49-F238E27FC236}">
                <a16:creationId xmlns:a16="http://schemas.microsoft.com/office/drawing/2014/main" id="{A8B9660F-33FF-24BF-2C8E-857AB17713AE}"/>
              </a:ext>
            </a:extLst>
          </p:cNvPr>
          <p:cNvSpPr txBox="1">
            <a:spLocks/>
          </p:cNvSpPr>
          <p:nvPr/>
        </p:nvSpPr>
        <p:spPr>
          <a:xfrm>
            <a:off x="232822" y="417909"/>
            <a:ext cx="6484922" cy="198526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algn="just"/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78E1B-35AE-8294-5961-D076F1F8659D}"/>
              </a:ext>
            </a:extLst>
          </p:cNvPr>
          <p:cNvSpPr/>
          <p:nvPr/>
        </p:nvSpPr>
        <p:spPr>
          <a:xfrm>
            <a:off x="0" y="2249401"/>
            <a:ext cx="8911178" cy="112736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Evaluate detection capabilities across all models using standardized metrics like Accuracy, Precision, Recall, F1-Score, ROC-AUC, and Confusion Matrices.</a:t>
            </a:r>
            <a:endParaRPr lang="en-IN" sz="1200" dirty="0">
              <a:latin typeface="Abadi" panose="020B0604020104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IN" sz="1200" b="1" dirty="0">
              <a:latin typeface="Abadi" panose="020B0604020104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Assess how effectively GraphSAGE generalizes to unobserved threats compared to standard Machine Learning and Deep Learning baselines.</a:t>
            </a:r>
            <a:endParaRPr lang="en-IN" sz="1200" b="1" dirty="0">
              <a:latin typeface="Abadi" panose="020B06040201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E67B0-A496-42C4-F964-0E0409E3BE39}"/>
              </a:ext>
            </a:extLst>
          </p:cNvPr>
          <p:cNvSpPr/>
          <p:nvPr/>
        </p:nvSpPr>
        <p:spPr>
          <a:xfrm>
            <a:off x="0" y="882747"/>
            <a:ext cx="8911178" cy="112736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Develop and train intrusion detection systems using diverse architectures including Random Forest, </a:t>
            </a:r>
            <a:r>
              <a:rPr lang="en-IN" sz="1200" dirty="0" err="1"/>
              <a:t>XGBoost</a:t>
            </a:r>
            <a:r>
              <a:rPr lang="en-IN" sz="1200" dirty="0"/>
              <a:t>, CNN, LSTM, and GraphSAGE.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IN" sz="1200" b="1" dirty="0">
              <a:latin typeface="Abadi" panose="020B0604020104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Simulate realistic zero-day threats by holding back specific attack classes during training and introducing them exclusively during testing.</a:t>
            </a:r>
            <a:endParaRPr lang="en-IN" sz="1200" b="1" dirty="0">
              <a:latin typeface="Abadi" panose="020B06040201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316967-6E98-427E-980C-13A304E2EF60}"/>
              </a:ext>
            </a:extLst>
          </p:cNvPr>
          <p:cNvSpPr/>
          <p:nvPr/>
        </p:nvSpPr>
        <p:spPr>
          <a:xfrm>
            <a:off x="0" y="3616055"/>
            <a:ext cx="8911178" cy="112736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Benchmark proposed frameworks against benchmark cybersecurity datasets, specifically utilizing public repositories like CIC-IDS2017 or CSE-CIC-IDS2018.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IN" sz="1200" b="1" dirty="0">
              <a:latin typeface="Abadi" panose="020B0604020104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dirty="0"/>
              <a:t>Identify and recommend the most effective model architecture for reliable, high-accuracy zero-day threat detection in modern networks.</a:t>
            </a:r>
            <a:endParaRPr lang="en-IN" sz="1200" b="1" dirty="0">
              <a:latin typeface="Abadi" panose="020B0604020104020204" pitchFamily="34" charset="0"/>
            </a:endParaRPr>
          </a:p>
        </p:txBody>
      </p:sp>
      <p:sp>
        <p:nvSpPr>
          <p:cNvPr id="21" name="Google Shape;55;p13">
            <a:extLst>
              <a:ext uri="{FF2B5EF4-FFF2-40B4-BE49-F238E27FC236}">
                <a16:creationId xmlns:a16="http://schemas.microsoft.com/office/drawing/2014/main" id="{0493C44D-3D5D-8EAF-225E-0988D057F71D}"/>
              </a:ext>
            </a:extLst>
          </p:cNvPr>
          <p:cNvSpPr txBox="1"/>
          <p:nvPr/>
        </p:nvSpPr>
        <p:spPr>
          <a:xfrm>
            <a:off x="7849275" y="4743421"/>
            <a:ext cx="1294724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Zero Graph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AC52D97B-5DAA-984F-B6D9-6127D7BB0A78}"/>
              </a:ext>
            </a:extLst>
          </p:cNvPr>
          <p:cNvSpPr txBox="1"/>
          <p:nvPr/>
        </p:nvSpPr>
        <p:spPr>
          <a:xfrm>
            <a:off x="1052837" y="92317"/>
            <a:ext cx="325636" cy="615523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sz="2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4196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3" grpId="0" uiExpand="1" build="p" animBg="1"/>
      <p:bldP spid="16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839B796-ACE5-96D2-95CA-2FB1DEBB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A7245BA-0BB1-4680-F752-B19AF27CD8FE}"/>
              </a:ext>
            </a:extLst>
          </p:cNvPr>
          <p:cNvSpPr/>
          <p:nvPr/>
        </p:nvSpPr>
        <p:spPr>
          <a:xfrm>
            <a:off x="0" y="185738"/>
            <a:ext cx="3943350" cy="464344"/>
          </a:xfrm>
          <a:prstGeom prst="homePlate">
            <a:avLst>
              <a:gd name="adj" fmla="val 59231"/>
            </a:avLst>
          </a:prstGeom>
          <a:solidFill>
            <a:schemeClr val="accent5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iome" panose="020B0503030204020804" pitchFamily="34" charset="0"/>
                <a:cs typeface="Biome" panose="020B0503030204020804" pitchFamily="34" charset="0"/>
              </a:rPr>
              <a:t> Sc    pe</a:t>
            </a:r>
            <a:endParaRPr lang="en-IN" sz="2100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Google Shape;63;p14">
            <a:extLst>
              <a:ext uri="{FF2B5EF4-FFF2-40B4-BE49-F238E27FC236}">
                <a16:creationId xmlns:a16="http://schemas.microsoft.com/office/drawing/2014/main" id="{126A017E-640B-C114-3067-73103783E61F}"/>
              </a:ext>
            </a:extLst>
          </p:cNvPr>
          <p:cNvSpPr txBox="1">
            <a:spLocks/>
          </p:cNvSpPr>
          <p:nvPr/>
        </p:nvSpPr>
        <p:spPr>
          <a:xfrm>
            <a:off x="232822" y="417909"/>
            <a:ext cx="6484922" cy="198526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algn="just"/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6AE89-18CD-1567-7993-B6AF76244C12}"/>
              </a:ext>
            </a:extLst>
          </p:cNvPr>
          <p:cNvSpPr/>
          <p:nvPr/>
        </p:nvSpPr>
        <p:spPr>
          <a:xfrm>
            <a:off x="0" y="2226868"/>
            <a:ext cx="8911178" cy="5207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Compare Random Forest, XGBoost, CNN, LSTM, and GraphSAGE under the same experimental conditions.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1C4060-E4F0-191B-02F9-EE0A7706E9A9}"/>
              </a:ext>
            </a:extLst>
          </p:cNvPr>
          <p:cNvSpPr/>
          <p:nvPr/>
        </p:nvSpPr>
        <p:spPr>
          <a:xfrm>
            <a:off x="0" y="860213"/>
            <a:ext cx="8911178" cy="52075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Design and implement an intelligent AI-based Intrusion Detection System (IDS) for network traffic analysis.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3B985-4B18-FE4B-FA80-87AF706EA57E}"/>
              </a:ext>
            </a:extLst>
          </p:cNvPr>
          <p:cNvSpPr/>
          <p:nvPr/>
        </p:nvSpPr>
        <p:spPr>
          <a:xfrm>
            <a:off x="0" y="3593521"/>
            <a:ext cx="8911178" cy="5207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Identify the most effective approach for enhancing zero-day attack detection and strengthening modern cybersecurity systems. </a:t>
            </a:r>
          </a:p>
        </p:txBody>
      </p:sp>
      <p:sp>
        <p:nvSpPr>
          <p:cNvPr id="21" name="Google Shape;55;p13">
            <a:extLst>
              <a:ext uri="{FF2B5EF4-FFF2-40B4-BE49-F238E27FC236}">
                <a16:creationId xmlns:a16="http://schemas.microsoft.com/office/drawing/2014/main" id="{6482278D-9608-A8F2-1B49-E42B3EEC81DA}"/>
              </a:ext>
            </a:extLst>
          </p:cNvPr>
          <p:cNvSpPr txBox="1"/>
          <p:nvPr/>
        </p:nvSpPr>
        <p:spPr>
          <a:xfrm>
            <a:off x="7849275" y="4743421"/>
            <a:ext cx="1294724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Zero Graph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BFC7DE7C-8DB1-481C-FEE7-3658869A7BED}"/>
              </a:ext>
            </a:extLst>
          </p:cNvPr>
          <p:cNvSpPr txBox="1"/>
          <p:nvPr/>
        </p:nvSpPr>
        <p:spPr>
          <a:xfrm>
            <a:off x="1765994" y="207778"/>
            <a:ext cx="325636" cy="461635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sz="1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89C660-6638-52E4-10F7-82452573FCD3}"/>
              </a:ext>
            </a:extLst>
          </p:cNvPr>
          <p:cNvSpPr/>
          <p:nvPr/>
        </p:nvSpPr>
        <p:spPr>
          <a:xfrm>
            <a:off x="0" y="1543539"/>
            <a:ext cx="8911178" cy="52075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Evaluate the capability of GraphSAGE in detecting zero-day (previously unseen) cyber attacks.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45E2A-6A7F-1950-11E6-D5BDEA7C4E30}"/>
              </a:ext>
            </a:extLst>
          </p:cNvPr>
          <p:cNvSpPr/>
          <p:nvPr/>
        </p:nvSpPr>
        <p:spPr>
          <a:xfrm>
            <a:off x="0" y="2910191"/>
            <a:ext cx="8911178" cy="5207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Simulate realistic zero-day scenarios by excluding attack classes during training and evaluating them during testing.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86DE0-1F2C-0BF2-DCB1-BDDBEEEB30B4}"/>
              </a:ext>
            </a:extLst>
          </p:cNvPr>
          <p:cNvSpPr/>
          <p:nvPr/>
        </p:nvSpPr>
        <p:spPr>
          <a:xfrm>
            <a:off x="0" y="4276851"/>
            <a:ext cx="8911178" cy="5207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Provide a scalable research framework that can be extended to emerging cyber threats and future intrusion detection systems. </a:t>
            </a: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37C2E394-DB49-6D0E-B534-83FCD6E1A844}"/>
              </a:ext>
            </a:extLst>
          </p:cNvPr>
          <p:cNvSpPr txBox="1"/>
          <p:nvPr/>
        </p:nvSpPr>
        <p:spPr>
          <a:xfrm>
            <a:off x="1765994" y="207778"/>
            <a:ext cx="325636" cy="461635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8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sz="18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131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8DEC287-8977-F3DF-AE62-75FC441F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CE27908-56D0-AFFB-3320-120071EBFF3C}"/>
              </a:ext>
            </a:extLst>
          </p:cNvPr>
          <p:cNvSpPr/>
          <p:nvPr/>
        </p:nvSpPr>
        <p:spPr>
          <a:xfrm>
            <a:off x="0" y="185738"/>
            <a:ext cx="3943350" cy="464344"/>
          </a:xfrm>
          <a:prstGeom prst="homePlate">
            <a:avLst>
              <a:gd name="adj" fmla="val 59231"/>
            </a:avLst>
          </a:prstGeom>
          <a:solidFill>
            <a:schemeClr val="accent5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Pr    </a:t>
            </a:r>
            <a:r>
              <a:rPr lang="en-US" b="1" dirty="0" err="1">
                <a:latin typeface="Biome" panose="020B0503030204020804" pitchFamily="34" charset="0"/>
                <a:cs typeface="Biome" panose="020B0503030204020804" pitchFamily="34" charset="0"/>
              </a:rPr>
              <a:t>ject</a:t>
            </a:r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 Planning &amp; Pr    posed Planning</a:t>
            </a:r>
            <a:endParaRPr lang="en-IN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Google Shape;63;p14">
            <a:extLst>
              <a:ext uri="{FF2B5EF4-FFF2-40B4-BE49-F238E27FC236}">
                <a16:creationId xmlns:a16="http://schemas.microsoft.com/office/drawing/2014/main" id="{B2EE1456-1F36-1B69-EAF9-CACCA2FACD20}"/>
              </a:ext>
            </a:extLst>
          </p:cNvPr>
          <p:cNvSpPr txBox="1">
            <a:spLocks/>
          </p:cNvSpPr>
          <p:nvPr/>
        </p:nvSpPr>
        <p:spPr>
          <a:xfrm>
            <a:off x="232822" y="417909"/>
            <a:ext cx="6484922" cy="1985264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algn="just"/>
            <a:endParaRPr lang="en-US" sz="1800" dirty="0"/>
          </a:p>
        </p:txBody>
      </p:sp>
      <p:sp>
        <p:nvSpPr>
          <p:cNvPr id="21" name="Google Shape;55;p13">
            <a:extLst>
              <a:ext uri="{FF2B5EF4-FFF2-40B4-BE49-F238E27FC236}">
                <a16:creationId xmlns:a16="http://schemas.microsoft.com/office/drawing/2014/main" id="{84BD11B6-AEE3-0812-77B5-D1F3333A6976}"/>
              </a:ext>
            </a:extLst>
          </p:cNvPr>
          <p:cNvSpPr txBox="1"/>
          <p:nvPr/>
        </p:nvSpPr>
        <p:spPr>
          <a:xfrm>
            <a:off x="7849275" y="4743421"/>
            <a:ext cx="1294724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Zero Graph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9493BFED-ABA4-EA63-76EF-E188D685371A}"/>
              </a:ext>
            </a:extLst>
          </p:cNvPr>
          <p:cNvSpPr txBox="1"/>
          <p:nvPr/>
        </p:nvSpPr>
        <p:spPr>
          <a:xfrm>
            <a:off x="2058888" y="259668"/>
            <a:ext cx="325636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597F0321-AEDE-4A70-6627-023D50CAAAD1}"/>
              </a:ext>
            </a:extLst>
          </p:cNvPr>
          <p:cNvSpPr txBox="1"/>
          <p:nvPr/>
        </p:nvSpPr>
        <p:spPr>
          <a:xfrm>
            <a:off x="346918" y="259668"/>
            <a:ext cx="291257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EB7A52-ECEC-981B-56C2-FAD7C69F3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58" y="891918"/>
            <a:ext cx="6208290" cy="35691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9806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6376B-C0B2-3425-2ED4-9CEBC9AC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F1A2CDE5-BFDE-739A-06E4-A7BB7A9B39E3}"/>
              </a:ext>
            </a:extLst>
          </p:cNvPr>
          <p:cNvSpPr/>
          <p:nvPr/>
        </p:nvSpPr>
        <p:spPr>
          <a:xfrm>
            <a:off x="0" y="185738"/>
            <a:ext cx="3943350" cy="464344"/>
          </a:xfrm>
          <a:prstGeom prst="homePlate">
            <a:avLst>
              <a:gd name="adj" fmla="val 59231"/>
            </a:avLst>
          </a:prstGeom>
          <a:solidFill>
            <a:schemeClr val="accent5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iome" panose="020B0503030204020804" pitchFamily="34" charset="0"/>
                <a:cs typeface="Biome" panose="020B0503030204020804" pitchFamily="34" charset="0"/>
              </a:rPr>
              <a:t>Pr   p   sed Tech Stack</a:t>
            </a:r>
            <a:endParaRPr lang="en-IN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1" name="Google Shape;55;p13">
            <a:extLst>
              <a:ext uri="{FF2B5EF4-FFF2-40B4-BE49-F238E27FC236}">
                <a16:creationId xmlns:a16="http://schemas.microsoft.com/office/drawing/2014/main" id="{AF1FF654-7FC6-573E-B149-99D73ED0FB65}"/>
              </a:ext>
            </a:extLst>
          </p:cNvPr>
          <p:cNvSpPr txBox="1"/>
          <p:nvPr/>
        </p:nvSpPr>
        <p:spPr>
          <a:xfrm>
            <a:off x="7849275" y="4743421"/>
            <a:ext cx="1294724" cy="400079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STCaiyun" panose="02010800040101010101" pitchFamily="2" charset="-122"/>
              </a:rPr>
              <a:t>Zero Graph</a:t>
            </a:r>
            <a:endParaRPr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ea typeface="STCaiyun" panose="02010800040101010101" pitchFamily="2" charset="-122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AE0A97DF-3F4A-6AA7-2DA2-0EB006216E06}"/>
              </a:ext>
            </a:extLst>
          </p:cNvPr>
          <p:cNvSpPr txBox="1"/>
          <p:nvPr/>
        </p:nvSpPr>
        <p:spPr>
          <a:xfrm>
            <a:off x="1080194" y="185738"/>
            <a:ext cx="325636" cy="492412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sz="20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46CB52F6-5FC5-DE8D-C781-5A1BA69437B8}"/>
              </a:ext>
            </a:extLst>
          </p:cNvPr>
          <p:cNvSpPr txBox="1"/>
          <p:nvPr/>
        </p:nvSpPr>
        <p:spPr>
          <a:xfrm>
            <a:off x="754856" y="185738"/>
            <a:ext cx="291257" cy="492412"/>
          </a:xfrm>
          <a:prstGeom prst="rect">
            <a:avLst/>
          </a:prstGeom>
          <a:noFill/>
          <a:ln>
            <a:noFill/>
          </a:ln>
          <a:effectLst>
            <a:outerShdw blurRad="50800" dist="25400" dir="5940000" algn="ctr">
              <a:srgbClr val="000000">
                <a:alpha val="46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STCaiyun" panose="02010800040101010101" pitchFamily="2" charset="-122"/>
              </a:rPr>
              <a:t>0</a:t>
            </a:r>
            <a:endParaRPr sz="20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Abadi" panose="020B0604020104020204" pitchFamily="34" charset="0"/>
              <a:ea typeface="STCaiyun" panose="02010800040101010101" pitchFamily="2" charset="-122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2841D33-8516-73F4-81F1-CAD0EB62C8D0}"/>
              </a:ext>
            </a:extLst>
          </p:cNvPr>
          <p:cNvSpPr/>
          <p:nvPr/>
        </p:nvSpPr>
        <p:spPr>
          <a:xfrm>
            <a:off x="275654" y="1018306"/>
            <a:ext cx="2079617" cy="2743203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Core Environment</a:t>
            </a:r>
          </a:p>
          <a:p>
            <a:pPr algn="ctr"/>
            <a:endParaRPr lang="en-IN" dirty="0"/>
          </a:p>
          <a:p>
            <a:r>
              <a:rPr lang="en-IN" sz="1100" b="1" dirty="0"/>
              <a:t>Programming Language -</a:t>
            </a:r>
            <a:r>
              <a:rPr lang="en-IN" sz="1100" dirty="0"/>
              <a:t> Python</a:t>
            </a:r>
          </a:p>
          <a:p>
            <a:endParaRPr lang="en-IN" sz="1100" b="1" dirty="0"/>
          </a:p>
          <a:p>
            <a:r>
              <a:rPr lang="en-IN" sz="1100" b="1" dirty="0"/>
              <a:t>Development Environments-</a:t>
            </a:r>
            <a:r>
              <a:rPr lang="en-IN" sz="1100" dirty="0"/>
              <a:t> Visual Studio Code</a:t>
            </a:r>
          </a:p>
          <a:p>
            <a:endParaRPr lang="en-IN" sz="1100" b="1" dirty="0"/>
          </a:p>
          <a:p>
            <a:r>
              <a:rPr lang="en-IN" sz="1100" b="1" dirty="0"/>
              <a:t>Operating Systems -</a:t>
            </a:r>
            <a:r>
              <a:rPr lang="en-IN" sz="1100" dirty="0"/>
              <a:t> Windows</a:t>
            </a:r>
          </a:p>
          <a:p>
            <a:endParaRPr lang="en-IN" sz="1100" b="1" dirty="0"/>
          </a:p>
          <a:p>
            <a:r>
              <a:rPr lang="en-IN" sz="1100" b="1" dirty="0"/>
              <a:t>Version Control -</a:t>
            </a:r>
            <a:r>
              <a:rPr lang="en-IN" sz="1100" dirty="0"/>
              <a:t> </a:t>
            </a:r>
          </a:p>
          <a:p>
            <a:r>
              <a:rPr lang="en-IN" sz="1100" dirty="0"/>
              <a:t>Git &amp; GitHub</a:t>
            </a:r>
          </a:p>
          <a:p>
            <a:pPr algn="ctr"/>
            <a:endParaRPr lang="en-IN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FFE5943-DE2A-2F1A-5397-63F07817D357}"/>
              </a:ext>
            </a:extLst>
          </p:cNvPr>
          <p:cNvSpPr/>
          <p:nvPr/>
        </p:nvSpPr>
        <p:spPr>
          <a:xfrm>
            <a:off x="2436966" y="1018305"/>
            <a:ext cx="2079617" cy="2743203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AI-ML Frameworks</a:t>
            </a:r>
          </a:p>
          <a:p>
            <a:pPr algn="ctr"/>
            <a:endParaRPr lang="en-IN" dirty="0"/>
          </a:p>
          <a:p>
            <a:r>
              <a:rPr lang="en-IN" sz="1100" b="1" dirty="0"/>
              <a:t>Traditional ML - </a:t>
            </a:r>
            <a:r>
              <a:rPr lang="en-IN" sz="1100" dirty="0"/>
              <a:t> </a:t>
            </a:r>
          </a:p>
          <a:p>
            <a:r>
              <a:rPr lang="en-IN" sz="1100" dirty="0"/>
              <a:t>Scikit-learn (Random Forest), </a:t>
            </a:r>
            <a:r>
              <a:rPr lang="en-IN" sz="1100" dirty="0" err="1"/>
              <a:t>XGBoost</a:t>
            </a:r>
            <a:endParaRPr lang="en-IN" sz="1100" dirty="0"/>
          </a:p>
          <a:p>
            <a:endParaRPr lang="en-IN" sz="1100" b="1" dirty="0"/>
          </a:p>
          <a:p>
            <a:r>
              <a:rPr lang="en-IN" sz="1100" b="1" dirty="0"/>
              <a:t>Deep Learning -</a:t>
            </a:r>
            <a:endParaRPr lang="en-IN" sz="1100" dirty="0"/>
          </a:p>
          <a:p>
            <a:r>
              <a:rPr lang="en-IN" sz="1100" dirty="0"/>
              <a:t>TensorFlow, </a:t>
            </a:r>
            <a:r>
              <a:rPr lang="en-IN" sz="1100" dirty="0" err="1"/>
              <a:t>Keras</a:t>
            </a:r>
            <a:r>
              <a:rPr lang="en-IN" sz="1100" dirty="0"/>
              <a:t> CNN, LSTM</a:t>
            </a:r>
          </a:p>
          <a:p>
            <a:endParaRPr lang="en-IN" sz="1100" b="1" dirty="0"/>
          </a:p>
          <a:p>
            <a:r>
              <a:rPr lang="en-IN" sz="1100" b="1" dirty="0"/>
              <a:t>Graph Neural Networks - </a:t>
            </a:r>
            <a:r>
              <a:rPr lang="en-IN" sz="1100" dirty="0"/>
              <a:t> </a:t>
            </a:r>
            <a:r>
              <a:rPr lang="en-IN" sz="1100" dirty="0" err="1"/>
              <a:t>PyTorch</a:t>
            </a:r>
            <a:r>
              <a:rPr lang="en-IN" sz="1100" dirty="0"/>
              <a:t> Geometric GraphSAGE</a:t>
            </a:r>
          </a:p>
          <a:p>
            <a:pPr algn="ctr"/>
            <a:endParaRPr lang="en-IN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7E40AE39-BA41-344F-2707-3A359147C467}"/>
              </a:ext>
            </a:extLst>
          </p:cNvPr>
          <p:cNvSpPr/>
          <p:nvPr/>
        </p:nvSpPr>
        <p:spPr>
          <a:xfrm>
            <a:off x="4598278" y="1018304"/>
            <a:ext cx="2079617" cy="2743203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Handling</a:t>
            </a:r>
          </a:p>
          <a:p>
            <a:pPr algn="ctr"/>
            <a:endParaRPr lang="en-IN" dirty="0"/>
          </a:p>
          <a:p>
            <a:r>
              <a:rPr lang="en-IN" sz="1100" b="1" dirty="0"/>
              <a:t>Data Processing &amp; Manipulation -</a:t>
            </a:r>
            <a:r>
              <a:rPr lang="en-IN" sz="1100" dirty="0"/>
              <a:t> </a:t>
            </a:r>
          </a:p>
          <a:p>
            <a:r>
              <a:rPr lang="en-IN" sz="1100" dirty="0"/>
              <a:t>Pandas, NumPy</a:t>
            </a:r>
          </a:p>
          <a:p>
            <a:endParaRPr lang="en-IN" sz="1100" b="1" dirty="0"/>
          </a:p>
          <a:p>
            <a:r>
              <a:rPr lang="en-IN" sz="1100" b="1" dirty="0"/>
              <a:t>Data Visualization -</a:t>
            </a:r>
            <a:r>
              <a:rPr lang="en-IN" sz="1100" dirty="0"/>
              <a:t> Matplotlib, Seaborn</a:t>
            </a:r>
          </a:p>
          <a:p>
            <a:pPr algn="ctr"/>
            <a:endParaRPr lang="en-IN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AFBE56F3-5994-4AED-44EA-176D2C863335}"/>
              </a:ext>
            </a:extLst>
          </p:cNvPr>
          <p:cNvSpPr/>
          <p:nvPr/>
        </p:nvSpPr>
        <p:spPr>
          <a:xfrm>
            <a:off x="6759590" y="1018304"/>
            <a:ext cx="2079617" cy="2743203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 &amp; Security Data</a:t>
            </a:r>
          </a:p>
          <a:p>
            <a:pPr algn="ctr"/>
            <a:endParaRPr lang="en-IN" dirty="0"/>
          </a:p>
          <a:p>
            <a:r>
              <a:rPr lang="en-IN" sz="1100" b="1" dirty="0"/>
              <a:t>CS Evaluation Datasets – </a:t>
            </a:r>
          </a:p>
          <a:p>
            <a:r>
              <a:rPr lang="en-IN" sz="1100" dirty="0"/>
              <a:t>CIC-IDS2017</a:t>
            </a:r>
          </a:p>
          <a:p>
            <a:r>
              <a:rPr lang="en-IN" sz="1100" dirty="0"/>
              <a:t>CSE-CIC-IDS2018</a:t>
            </a:r>
          </a:p>
        </p:txBody>
      </p:sp>
    </p:spTree>
    <p:extLst>
      <p:ext uri="{BB962C8B-B14F-4D97-AF65-F5344CB8AC3E}">
        <p14:creationId xmlns:p14="http://schemas.microsoft.com/office/powerpoint/2010/main" val="3879349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1876-AAFF-DA43-BFA0-BDC328FE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5E7DC-8A5C-283D-0B6E-B008DC1F6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W. W. Lo,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Layeghy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Sarhan, M. Gallagher, and M. Portmann, "E-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Graph Neural Network Based Intrusion Detection System for IoT," Proc. IEEE/IFIP Network Operations and Management Symposium (NOMS), 2022,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10.1109/NOMS54207.2022.9789878.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W. Hamilton, Z. Ying, and J. Leskovec, "Inductive Representation Learning on Large Graphs," Advances in Neural Information Processing Systems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vol. 30, 2017.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Zhong, M. Lin, C. Zhang, and Z. Xu, "A Survey on Graph Neural Networks for Intrusion Detection Systems: Methods, Trends and Challenges," Computers &amp; Security, vol. 141, p. 103821, 2024,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10.1016/j.cose.2024.103821.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F. Abdullayeva and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Suleymanzade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"Cyber Security Attack Recognition on Cloud Computing Networks Based on Graph Convolutional Neural Network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Models," Results in Control and Optimization, vol. 15, p. 100423, 2024,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10.1016/j.rico.2024.100423.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8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47923-07A7-3662-EBAC-9646549C5E4C}"/>
              </a:ext>
            </a:extLst>
          </p:cNvPr>
          <p:cNvSpPr txBox="1"/>
          <p:nvPr/>
        </p:nvSpPr>
        <p:spPr>
          <a:xfrm>
            <a:off x="268941" y="477371"/>
            <a:ext cx="85119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 L. Xu et al., "AJSAGE: A Intrusion Detection Scheme Based on Jump-Knowledge Connection to </a:t>
            </a:r>
            <a:r>
              <a:rPr lang="en-US" dirty="0" err="1"/>
              <a:t>GraphSAGE</a:t>
            </a:r>
            <a:r>
              <a:rPr lang="en-US" dirty="0"/>
              <a:t>," Computers &amp; Security, vol. 150, p. 104263, 2025, </a:t>
            </a:r>
            <a:r>
              <a:rPr lang="en-US" dirty="0" err="1"/>
              <a:t>doi</a:t>
            </a:r>
            <a:r>
              <a:rPr lang="en-US" dirty="0"/>
              <a:t>: 10.1016/j.cose.2024.104263.</a:t>
            </a:r>
          </a:p>
          <a:p>
            <a:endParaRPr lang="en-US" dirty="0"/>
          </a:p>
          <a:p>
            <a:r>
              <a:rPr lang="en-US" dirty="0"/>
              <a:t>[6] D.-H. Tran and M. Park, "FN-GNN: A Novel Graph Embedding Approach for Enhancing Graph Neural Networks in Network Intrusion Detection Systems," Applied Sciences, vol. 14, no. 16, p. 6932, 2024, </a:t>
            </a:r>
            <a:r>
              <a:rPr lang="en-US" dirty="0" err="1"/>
              <a:t>doi</a:t>
            </a:r>
            <a:r>
              <a:rPr lang="en-US" dirty="0"/>
              <a:t>: 10.3390/app14166932.</a:t>
            </a:r>
          </a:p>
          <a:p>
            <a:endParaRPr lang="en-US" dirty="0"/>
          </a:p>
          <a:p>
            <a:r>
              <a:rPr lang="en-US" dirty="0"/>
              <a:t>[7] R. Xu et al., "Applying Self-supervised Learning to Network Intrusion Detection for Network Flows with Graph Neural Network," arXiv:2403.01501, 2024.</a:t>
            </a:r>
          </a:p>
          <a:p>
            <a:endParaRPr lang="en-US" dirty="0"/>
          </a:p>
          <a:p>
            <a:r>
              <a:rPr lang="en-US" dirty="0"/>
              <a:t>[8] A. Zoubir and B. Missaoui, "Integrating Graph Neural Networks with Scattering Transform for Anomaly Detection," arXiv:2404.10800, 2024.</a:t>
            </a:r>
          </a:p>
          <a:p>
            <a:endParaRPr lang="en-US" dirty="0"/>
          </a:p>
          <a:p>
            <a:r>
              <a:rPr lang="en-US" dirty="0"/>
              <a:t>[9] I. </a:t>
            </a:r>
            <a:r>
              <a:rPr lang="en-US" dirty="0" err="1"/>
              <a:t>Sharafaldin</a:t>
            </a:r>
            <a:r>
              <a:rPr lang="en-US" dirty="0"/>
              <a:t>, A. H. Lashkari, and A. A. Ghorbani, "Toward Generating a New Intrusion Detection Dataset and Intrusion Traffic Characterization," Proc. ICISSP, 2018.</a:t>
            </a:r>
          </a:p>
          <a:p>
            <a:endParaRPr lang="en-US" dirty="0"/>
          </a:p>
          <a:p>
            <a:r>
              <a:rPr lang="en-US" dirty="0"/>
              <a:t>[10] Canadian Institute for Cybersecurity, "CIC-IDS2017 Dataset," University of New Brunswick, 2017.</a:t>
            </a:r>
          </a:p>
          <a:p>
            <a:endParaRPr lang="en-US" dirty="0"/>
          </a:p>
          <a:p>
            <a:r>
              <a:rPr lang="en-US" dirty="0"/>
              <a:t>[11] N. Moustafa, "</a:t>
            </a:r>
            <a:r>
              <a:rPr lang="en-US" dirty="0" err="1"/>
              <a:t>TON_IoT</a:t>
            </a:r>
            <a:r>
              <a:rPr lang="en-US" dirty="0"/>
              <a:t> Telemetry Dataset: A New Generation Dataset of IoT and </a:t>
            </a:r>
            <a:r>
              <a:rPr lang="en-US" dirty="0" err="1"/>
              <a:t>IIoT</a:t>
            </a:r>
            <a:r>
              <a:rPr lang="en-US" dirty="0"/>
              <a:t> for Data-Driven Intrusion Detection Systems," IEEE Access, vol. 8, pp. 165130–165150, 2020.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35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17A279-4550-EB4D-5EB8-9139769DD5E0}"/>
              </a:ext>
            </a:extLst>
          </p:cNvPr>
          <p:cNvSpPr txBox="1"/>
          <p:nvPr/>
        </p:nvSpPr>
        <p:spPr>
          <a:xfrm>
            <a:off x="174812" y="228600"/>
            <a:ext cx="87338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[13] N. </a:t>
            </a:r>
            <a:r>
              <a:rPr lang="en-US" dirty="0" err="1"/>
              <a:t>Koroniotis</a:t>
            </a:r>
            <a:r>
              <a:rPr lang="en-US" dirty="0"/>
              <a:t>, N. Moustafa, E. Sitnikova, and B. Turnbull, "Towards the Development of Realistic Botnet Dataset in the Internet of Things for Network Forensic Analytics," Future Generation Computer Systems, vol. 100, pp. 779–796, 2019.</a:t>
            </a:r>
          </a:p>
          <a:p>
            <a:endParaRPr lang="en-US" dirty="0"/>
          </a:p>
          <a:p>
            <a:r>
              <a:rPr lang="en-US" dirty="0"/>
              <a:t>[14] T. Chen and C. </a:t>
            </a:r>
            <a:r>
              <a:rPr lang="en-US" dirty="0" err="1"/>
              <a:t>Guestrin</a:t>
            </a:r>
            <a:r>
              <a:rPr lang="en-US" dirty="0"/>
              <a:t>, "</a:t>
            </a:r>
            <a:r>
              <a:rPr lang="en-US" dirty="0" err="1"/>
              <a:t>XGBoost</a:t>
            </a:r>
            <a:r>
              <a:rPr lang="en-US" dirty="0"/>
              <a:t>: A Scalable Tree Boosting System," Proc. ACM SIGKDD, 2016.</a:t>
            </a:r>
          </a:p>
          <a:p>
            <a:endParaRPr lang="en-US" dirty="0"/>
          </a:p>
          <a:p>
            <a:r>
              <a:rPr lang="en-US" dirty="0"/>
              <a:t>[15] L. </a:t>
            </a:r>
            <a:r>
              <a:rPr lang="en-US" dirty="0" err="1"/>
              <a:t>Breiman</a:t>
            </a:r>
            <a:r>
              <a:rPr lang="en-US" dirty="0"/>
              <a:t>, "Random Forests," Machine Learning, vol. 45, no. 1, pp. 5–32, 2001.</a:t>
            </a:r>
          </a:p>
          <a:p>
            <a:endParaRPr lang="en-US" dirty="0"/>
          </a:p>
          <a:p>
            <a:r>
              <a:rPr lang="en-US" dirty="0"/>
              <a:t>[16] S. Hochreiter and J. </a:t>
            </a:r>
            <a:r>
              <a:rPr lang="en-US" dirty="0" err="1"/>
              <a:t>Schmidhuber</a:t>
            </a:r>
            <a:r>
              <a:rPr lang="en-US" dirty="0"/>
              <a:t>, "Long Short-Term Memory," Neural Computation, vol. 9, no. 8, pp. 1735–1780, 1997.</a:t>
            </a:r>
          </a:p>
          <a:p>
            <a:endParaRPr lang="en-US" dirty="0"/>
          </a:p>
          <a:p>
            <a:r>
              <a:rPr lang="en-US" dirty="0"/>
              <a:t>[17] Y. LeCun, Y. Bengio, and G. Hinton, "Deep Learning," Nature, vol. 521, no. 7553, pp. 436–444, 2015.</a:t>
            </a:r>
          </a:p>
          <a:p>
            <a:endParaRPr lang="en-US" dirty="0"/>
          </a:p>
          <a:p>
            <a:r>
              <a:rPr lang="en-US" dirty="0"/>
              <a:t>[18] D. Pujol-Perich, J. Suárez-Varela, A. Cabellos-Aparicio, and P. Barlet-Ros, "Unveiling the Potential of Graph Neural Networks for Robust Intrusion Detection," arXiv:2107.14756, 2021.</a:t>
            </a:r>
          </a:p>
          <a:p>
            <a:endParaRPr lang="en-US" dirty="0"/>
          </a:p>
          <a:p>
            <a:r>
              <a:rPr lang="en-US" dirty="0"/>
              <a:t>[19] M. L. </a:t>
            </a:r>
            <a:r>
              <a:rPr lang="en-US" dirty="0" err="1"/>
              <a:t>Kazimoto</a:t>
            </a:r>
            <a:r>
              <a:rPr lang="en-US" dirty="0"/>
              <a:t>, J. S. Ally, and S. Leonard, "A Hybrid LSTM-GNN-Q-Learning Model for Zero-Day Attack Detection: Evaluation on CICIDS2017 with Simulated Zero-Day Setting," Journal of Information Systems and Informatics, vol. 8, no. 3, 2025.</a:t>
            </a:r>
          </a:p>
          <a:p>
            <a:endParaRPr lang="en-US" dirty="0"/>
          </a:p>
          <a:p>
            <a:r>
              <a:rPr lang="en-US" dirty="0"/>
              <a:t>[20] A. L. Buczak and E. Guven, "A Survey of Data Mining and Machine Learning Methods for Cyber Security Intrusion Detection," IEEE Communications Surveys &amp; Tutorials, vol. 18, no. 2, pp. 1153–1176, 2016.</a:t>
            </a:r>
          </a:p>
        </p:txBody>
      </p:sp>
    </p:spTree>
    <p:extLst>
      <p:ext uri="{BB962C8B-B14F-4D97-AF65-F5344CB8AC3E}">
        <p14:creationId xmlns:p14="http://schemas.microsoft.com/office/powerpoint/2010/main" val="329984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CC16-F364-A88D-D66D-0C78E806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SDG Goals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ED525-A3A2-AC68-E7AC-C5BA06EE1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SDG 9 – Industry, Innovation and Infrastructure 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Develops an AI-based intrusion detection system to strengthen secure and resilient digital infrastructure.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SDG 16 – Peace, Justice and Strong Institutions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Enhances cybersecurity by improving the detection of emerging and zero-day cyber threats.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SDG 8 – Decent Work and Economic Growth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Reduces cyber risks and supports secure digital business operations.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SDG 11 – Sustainable Cities and Communities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Improves the security of smart city networks and connected digital services.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SDG 17 – Partnerships for the Goals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Promotes collaborative AI and cybersecurity research using publicly available datasets.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037BE-97B1-6720-1AED-AA0691A874BA}"/>
              </a:ext>
            </a:extLst>
          </p:cNvPr>
          <p:cNvSpPr txBox="1"/>
          <p:nvPr/>
        </p:nvSpPr>
        <p:spPr>
          <a:xfrm>
            <a:off x="3950494" y="4729689"/>
            <a:ext cx="5286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Zero-Day Cyber Attack Detection Using Graph Neural Networks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3779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1457</Words>
  <Application>Microsoft Office PowerPoint</Application>
  <PresentationFormat>On-screen Show (16:9)</PresentationFormat>
  <Paragraphs>134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Abadi</vt:lpstr>
      <vt:lpstr>Arial</vt:lpstr>
      <vt:lpstr>Arial Rounded MT Bold</vt:lpstr>
      <vt:lpstr>Biome</vt:lpstr>
      <vt:lpstr>Calibri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  <vt:lpstr>SDG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vaishnavi khule</dc:creator>
  <cp:lastModifiedBy>Darsh Jain</cp:lastModifiedBy>
  <cp:revision>13</cp:revision>
  <dcterms:modified xsi:type="dcterms:W3CDTF">2026-07-23T14:50:26Z</dcterms:modified>
</cp:coreProperties>
</file>